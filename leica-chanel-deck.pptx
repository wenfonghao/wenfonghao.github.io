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11108"/>
          </a:solidFill>
          <a:ln w="12700">
            <a:solidFill>
              <a:srgbClr val="1111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1A12"/>
          </a:solidFill>
          <a:ln w="12700">
            <a:solidFill>
              <a:srgbClr val="1A1A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85232" y="365760"/>
            <a:ext cx="13716" cy="4389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PROPOSAL ·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3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× CHANEL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口紅相機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全新品類 — 時尚科技融合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8288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從精品市場，開創科技美學新賽道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21808" y="0"/>
            <a:ext cx="3822192" cy="4736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321808" y="0"/>
            <a:ext cx="18288" cy="4736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06440" y="4224528"/>
            <a:ext cx="3108960" cy="347472"/>
          </a:xfrm>
          <a:prstGeom prst="rect">
            <a:avLst/>
          </a:prstGeom>
          <a:solidFill>
            <a:srgbClr val="050503">
              <a:alpha val="80000"/>
            </a:srgbClr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42245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EDITION  ·  001 ROUGE CAPTURE  ·  MADE IN FRANCE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12"/>
          </a:solidFill>
          <a:ln w="12700">
            <a:solidFill>
              <a:srgbClr val="2A2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· FOR INTERNAL REVIEW ONLY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· 提案架構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本次提案架構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75488" cy="475488"/>
          </a:xfrm>
          <a:prstGeom prst="rect">
            <a:avLst/>
          </a:prstGeom>
          <a:solidFill>
            <a:srgbClr val="1A1A12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業界的挑戰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8105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三個市場同時失速，交集即藍海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028" y="2029968"/>
            <a:ext cx="27432" cy="192024"/>
          </a:xfrm>
          <a:prstGeom prst="rect">
            <a:avLst/>
          </a:prstGeom>
          <a:solidFill>
            <a:srgbClr val="C9A96E">
              <a:alpha val="5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21992"/>
            <a:ext cx="475488" cy="475488"/>
          </a:xfrm>
          <a:prstGeom prst="rect">
            <a:avLst/>
          </a:prstGeom>
          <a:solidFill>
            <a:srgbClr val="1A1A12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21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問題陳述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4780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目標客群 · 痛點 · 需求驗證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4028" y="2697480"/>
            <a:ext cx="27432" cy="192024"/>
          </a:xfrm>
          <a:prstGeom prst="rect">
            <a:avLst/>
          </a:prstGeom>
          <a:solidFill>
            <a:srgbClr val="C9A96E">
              <a:alpha val="5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9504"/>
            <a:ext cx="475488" cy="475488"/>
          </a:xfrm>
          <a:prstGeom prst="rect">
            <a:avLst/>
          </a:prstGeom>
          <a:solidFill>
            <a:srgbClr val="1A1A12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產品介紹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145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願景 · USP · MVP · 差異化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4028" y="3364992"/>
            <a:ext cx="27432" cy="192024"/>
          </a:xfrm>
          <a:prstGeom prst="rect">
            <a:avLst/>
          </a:prstGeom>
          <a:solidFill>
            <a:srgbClr val="C9A96E">
              <a:alpha val="5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57016"/>
            <a:ext cx="475488" cy="475488"/>
          </a:xfrm>
          <a:prstGeom prst="rect">
            <a:avLst/>
          </a:prstGeom>
          <a:solidFill>
            <a:srgbClr val="1A1A12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570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5753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市場策略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38130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感知圖 · 去市場路徑 · 成功指標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4028" y="4032504"/>
            <a:ext cx="27432" cy="192024"/>
          </a:xfrm>
          <a:prstGeom prst="rect">
            <a:avLst/>
          </a:prstGeom>
          <a:solidFill>
            <a:srgbClr val="C9A96E">
              <a:alpha val="5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24528"/>
            <a:ext cx="475488" cy="475488"/>
          </a:xfrm>
          <a:prstGeom prst="rect">
            <a:avLst/>
          </a:prstGeom>
          <a:solidFill>
            <a:srgbClr val="1A1A12"/>
          </a:solidFill>
          <a:ln w="1016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2428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風險與應對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44805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大風險 · 精準緩解措施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1463040"/>
            <a:ext cx="3017520" cy="329184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463040"/>
            <a:ext cx="45720" cy="32918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5943600" y="2103120"/>
            <a:ext cx="2697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我們不是在做一台相機，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我們在創造一個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讓人「被看見」的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時尚科技符號。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 · THE CHALLENGE · 業界的挑戰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三個市場，同時失速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16002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" cy="1600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72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72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相機市場萎縮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93852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高端手機崛起，大幅壓縮傳統相機空間。消費者不再願意多帶一台設備。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31920" cy="16002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463040"/>
            <a:ext cx="36576" cy="1600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73168" y="1572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84708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572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精品市場同質化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257800" y="193852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頂級包款、香水、彩妝已陷入敘事疲勞。客群渴望新的「物件符號」。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200400"/>
            <a:ext cx="3931920" cy="16002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200400"/>
            <a:ext cx="36576" cy="1600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6928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8444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女性市場被忽視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051560" y="36758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高端相機設計幾乎清一色以男性為核心。女性消費者的美感從未被認真對待。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3200400"/>
            <a:ext cx="3931920" cy="16002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3200400"/>
            <a:ext cx="36576" cy="1600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73168" y="33101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584448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科技缺乏情緒價值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257800" y="36758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Z世代購物核心驅動力，早已從「功能」轉移至「風格認同」與「社群可見度」。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A1A10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" y="46634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市場洞察  →  市場缺少一個「既是精品、又是科技、還能代表個人風格」的產品——這不是產品問題，是身份象徵的缺口。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 · PROBLEM STATEMENT · 問題陳述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誰，需要什麼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566160" cy="338328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566160" cy="320040"/>
          </a:xfrm>
          <a:prstGeom prst="rect">
            <a:avLst/>
          </a:prstGeom>
          <a:solidFill>
            <a:srgbClr val="1A1A10"/>
          </a:solidFill>
          <a:ln w="12700">
            <a:solidFill>
              <a:srgbClr val="1A1A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 · 目標客群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836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25–45 歲女性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414016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774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高消費力精品客群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907792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712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 / 創作者 / 時尚族群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401568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64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喜愛拍照、社群分享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895344"/>
            <a:ext cx="128016" cy="12801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58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精品收藏偏好者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1463040"/>
            <a:ext cx="4572000" cy="338328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463040"/>
            <a:ext cx="4572000" cy="320040"/>
          </a:xfrm>
          <a:prstGeom prst="rect">
            <a:avLst/>
          </a:prstGeom>
          <a:solidFill>
            <a:srgbClr val="1A1A10"/>
          </a:solidFill>
          <a:ln w="12700">
            <a:solidFill>
              <a:srgbClr val="1A1A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4904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 &amp; DESIRES · 痛點與需求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51960" y="1783080"/>
            <a:ext cx="2194560" cy="256032"/>
          </a:xfrm>
          <a:prstGeom prst="rect">
            <a:avLst/>
          </a:prstGeom>
          <a:solidFill>
            <a:srgbClr val="141410"/>
          </a:solidFill>
          <a:ln w="12700">
            <a:solidFill>
              <a:srgbClr val="1414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783080"/>
            <a:ext cx="2331720" cy="256032"/>
          </a:xfrm>
          <a:prstGeom prst="rect">
            <a:avLst/>
          </a:prstGeom>
          <a:solidFill>
            <a:srgbClr val="141410"/>
          </a:solidFill>
          <a:ln w="12700">
            <a:solidFill>
              <a:srgbClr val="1414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8013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4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痛點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18013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對應需求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73952" y="1783080"/>
            <a:ext cx="13716" cy="3063240"/>
          </a:xfrm>
          <a:prstGeom prst="rect">
            <a:avLst/>
          </a:prstGeom>
          <a:solidFill>
            <a:srgbClr val="2A2A1A"/>
          </a:solidFill>
          <a:ln w="12700">
            <a:solidFill>
              <a:srgbClr val="2A2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208483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相機太專業、設計不時尚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2084832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美感設計、精品感體驗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2697480"/>
            <a:ext cx="4572000" cy="10973"/>
          </a:xfrm>
          <a:prstGeom prst="rect">
            <a:avLst/>
          </a:prstGeom>
          <a:solidFill>
            <a:srgbClr val="1E1E16"/>
          </a:solidFill>
          <a:ln w="12700">
            <a:solidFill>
              <a:srgbClr val="1E1E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275234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手機拍照缺乏儀式感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275234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有故事、有象徵的拍攝行為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51960" y="3364992"/>
            <a:ext cx="4572000" cy="10973"/>
          </a:xfrm>
          <a:prstGeom prst="rect">
            <a:avLst/>
          </a:prstGeom>
          <a:solidFill>
            <a:srgbClr val="1E1E16"/>
          </a:solidFill>
          <a:ln w="12700">
            <a:solidFill>
              <a:srgbClr val="1E1E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419856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精品缺乏實用功能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0" y="3419856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能用＋能炫耀，兼具雙重價值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51960" y="4032504"/>
            <a:ext cx="4572000" cy="10973"/>
          </a:xfrm>
          <a:prstGeom prst="rect">
            <a:avLst/>
          </a:prstGeom>
          <a:solidFill>
            <a:srgbClr val="1E1E16"/>
          </a:solidFill>
          <a:ln w="12700">
            <a:solidFill>
              <a:srgbClr val="1E1E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408736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市場產品雷同，難彰顯個性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0" y="4087368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獨特性、限量感、稀缺價值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III · PRODUCT · 產品介紹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核心亮點 × MVP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「一支口紅，拍下世界；一台相機，定義風格。」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1572768" cy="13716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116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871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口紅造型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極致輕便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可隨身攜帶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21408" y="1883664"/>
            <a:ext cx="1572768" cy="13716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20116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21408" y="24871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成像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121408" y="2743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高畫質鏡頭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專業色彩科學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785616" y="1883664"/>
            <a:ext cx="1572768" cy="13716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201168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85616" y="24871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Chanel 美學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785616" y="2743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黑金工藝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奢華設計語言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449824" y="1883664"/>
            <a:ext cx="1572768" cy="13716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011680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9824" y="24871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社交展示性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49824" y="2743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拿出來就是焦點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天然社群素材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7114032" y="1883664"/>
            <a:ext cx="1572768" cy="1371600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011680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14032" y="24871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限量收藏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114032" y="274320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編號版本</a:t>
            </a:r>
            <a:endParaRPr lang="en-US" sz="8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二級市場溢價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45720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· 最小可行產品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57200" y="3730752"/>
            <a:ext cx="1938528" cy="1024128"/>
          </a:xfrm>
          <a:prstGeom prst="rect">
            <a:avLst/>
          </a:prstGeom>
          <a:solidFill>
            <a:srgbClr val="0F0F0A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7200" y="3730752"/>
            <a:ext cx="1938528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4864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566928" y="4078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口紅型相機本體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66928" y="43525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高質感濾鏡 · 開蓋即拍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560320" y="3730752"/>
            <a:ext cx="1938528" cy="1024128"/>
          </a:xfrm>
          <a:prstGeom prst="rect">
            <a:avLst/>
          </a:prstGeom>
          <a:solidFill>
            <a:srgbClr val="0F0F0A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560320" y="3730752"/>
            <a:ext cx="1938528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65176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2670048" y="4078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一鍵拍攝機制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2670048" y="43525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零學習曲線操作介面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663440" y="3730752"/>
            <a:ext cx="1938528" cy="1024128"/>
          </a:xfrm>
          <a:prstGeom prst="rect">
            <a:avLst/>
          </a:prstGeom>
          <a:solidFill>
            <a:srgbClr val="0F0F0A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663440" y="3730752"/>
            <a:ext cx="1938528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75488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3"/>
          <p:cNvSpPr/>
          <p:nvPr/>
        </p:nvSpPr>
        <p:spPr>
          <a:xfrm>
            <a:off x="4773168" y="4078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藍牙即時連結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773168" y="43525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一鍵同步 IG / 小紅書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766560" y="3730752"/>
            <a:ext cx="1938528" cy="1024128"/>
          </a:xfrm>
          <a:prstGeom prst="rect">
            <a:avLst/>
          </a:prstGeom>
          <a:solidFill>
            <a:srgbClr val="0F0F0A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766560" y="3730752"/>
            <a:ext cx="1938528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>
            <a:alphaModFix amt="65000"/>
          </a:blip>
          <a:srcRect l="0" r="0" t="0" b="0"/>
          <a:stretch/>
        </p:blipFill>
        <p:spPr>
          <a:xfrm>
            <a:off x="7315200" y="3749040"/>
            <a:ext cx="1316736" cy="96926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85800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6" name="Text 38"/>
          <p:cNvSpPr/>
          <p:nvPr/>
        </p:nvSpPr>
        <p:spPr>
          <a:xfrm>
            <a:off x="6876288" y="40782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精品外觀設計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876288" y="43525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黑金配色 · 限量刻印編號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III · DIFFERENTIATION · 差異化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全球第一個科技精品相機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011680" cy="384048"/>
          </a:xfrm>
          <a:prstGeom prst="rect">
            <a:avLst/>
          </a:prstGeom>
          <a:solidFill>
            <a:srgbClr val="111108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463040"/>
            <a:ext cx="1554480" cy="384048"/>
          </a:xfrm>
          <a:prstGeom prst="rect">
            <a:avLst/>
          </a:prstGeom>
          <a:solidFill>
            <a:srgbClr val="111108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481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463040"/>
            <a:ext cx="1554480" cy="384048"/>
          </a:xfrm>
          <a:prstGeom prst="rect">
            <a:avLst/>
          </a:prstGeom>
          <a:solidFill>
            <a:srgbClr val="111108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481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專業相機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463040"/>
            <a:ext cx="1554480" cy="384048"/>
          </a:xfrm>
          <a:prstGeom prst="rect">
            <a:avLst/>
          </a:prstGeom>
          <a:solidFill>
            <a:srgbClr val="111108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481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精品配件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1463040"/>
            <a:ext cx="1920240" cy="384048"/>
          </a:xfrm>
          <a:prstGeom prst="rect">
            <a:avLst/>
          </a:prstGeom>
          <a:solidFill>
            <a:srgbClr val="1A1A10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4813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× CHANEL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883664"/>
            <a:ext cx="20116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01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便攜性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1883664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901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B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1883664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901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883664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90195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B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1883664"/>
            <a:ext cx="1920240" cy="457200"/>
          </a:xfrm>
          <a:prstGeom prst="rect">
            <a:avLst/>
          </a:prstGeom>
          <a:solidFill>
            <a:srgbClr val="0F0F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883664"/>
            <a:ext cx="36576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9019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359152"/>
            <a:ext cx="20116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774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影像品質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2359152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3774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普通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023360" y="2359152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23774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B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2359152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37744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0" y="2359152"/>
            <a:ext cx="1920240" cy="457200"/>
          </a:xfrm>
          <a:prstGeom prst="rect">
            <a:avLst/>
          </a:prstGeom>
          <a:solidFill>
            <a:srgbClr val="0F0F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2359152"/>
            <a:ext cx="36576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3774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20116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8529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時尚美學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2834640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28529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023360" y="2834640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28529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577840" y="2834640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285292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B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132320" y="2834640"/>
            <a:ext cx="1920240" cy="457200"/>
          </a:xfrm>
          <a:prstGeom prst="rect">
            <a:avLst/>
          </a:prstGeom>
          <a:solidFill>
            <a:srgbClr val="0F0F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0" y="2834640"/>
            <a:ext cx="36576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28529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3310128"/>
            <a:ext cx="20116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3284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身份象徵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68880" y="3310128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0" y="332841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023360" y="3310128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0" y="332841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577840" y="3310128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0" y="332841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DB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32320" y="3310128"/>
            <a:ext cx="1920240" cy="457200"/>
          </a:xfrm>
          <a:prstGeom prst="rect">
            <a:avLst/>
          </a:prstGeom>
          <a:solidFill>
            <a:srgbClr val="0F0F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32320" y="3310128"/>
            <a:ext cx="36576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33284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57200" y="3785616"/>
            <a:ext cx="20116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803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社群展示性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468880" y="3785616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0" y="38039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普通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023360" y="3785616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0" y="38039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577840" y="3785616"/>
            <a:ext cx="1554480" cy="457200"/>
          </a:xfrm>
          <a:prstGeom prst="rect">
            <a:avLst/>
          </a:prstGeom>
          <a:solidFill>
            <a:srgbClr val="0C0C08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77840" y="38039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132320" y="3785616"/>
            <a:ext cx="1920240" cy="457200"/>
          </a:xfrm>
          <a:prstGeom prst="rect">
            <a:avLst/>
          </a:prstGeom>
          <a:solidFill>
            <a:srgbClr val="0F0F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32320" y="3785616"/>
            <a:ext cx="36576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0" y="38039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57200" y="4261104"/>
            <a:ext cx="20116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2793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收藏升值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468880" y="4261104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68880" y="4279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023360" y="4261104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23360" y="4279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577840" y="4261104"/>
            <a:ext cx="1554480" cy="457200"/>
          </a:xfrm>
          <a:prstGeom prst="rect">
            <a:avLst/>
          </a:prstGeom>
          <a:solidFill>
            <a:srgbClr val="0A0A06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77840" y="42793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有限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7132320" y="4261104"/>
            <a:ext cx="1920240" cy="457200"/>
          </a:xfrm>
          <a:prstGeom prst="rect">
            <a:avLst/>
          </a:prstGeom>
          <a:solidFill>
            <a:srgbClr val="0F0F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320" y="4261104"/>
            <a:ext cx="36576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32320" y="42793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1A1A10"/>
          </a:solidFill>
          <a:ln w="7620">
            <a:solidFill>
              <a:srgbClr val="C9A96E"/>
            </a:solidFill>
            <a:prstDash val="solid"/>
          </a:ln>
        </p:spPr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0" b="0"/>
          <a:stretch/>
        </p:blipFill>
        <p:spPr>
          <a:xfrm>
            <a:off x="6784848" y="1463040"/>
            <a:ext cx="1901952" cy="3246120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6784848" y="190195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4" name="Text 81"/>
          <p:cNvSpPr/>
          <p:nvPr/>
        </p:nvSpPr>
        <p:spPr>
          <a:xfrm>
            <a:off x="6784848" y="2377440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Text 82"/>
          <p:cNvSpPr/>
          <p:nvPr/>
        </p:nvSpPr>
        <p:spPr>
          <a:xfrm>
            <a:off x="6784848" y="285292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6784848" y="3328416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6784848" y="3803904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8" name="Text 85"/>
          <p:cNvSpPr/>
          <p:nvPr/>
        </p:nvSpPr>
        <p:spPr>
          <a:xfrm>
            <a:off x="6784848" y="427939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Text 86"/>
          <p:cNvSpPr/>
          <p:nvPr/>
        </p:nvSpPr>
        <p:spPr>
          <a:xfrm>
            <a:off x="640080" y="47548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定位：全球第一個「科技精品相機」——不是賣相機，是賣身份與風格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IV · GO-TO-MARKET · 市場策略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市場感知圖 · 藍海定位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463040"/>
            <a:ext cx="5029200" cy="3474720"/>
          </a:xfrm>
          <a:prstGeom prst="rect">
            <a:avLst/>
          </a:prstGeom>
          <a:solidFill>
            <a:srgbClr val="0C0C0A"/>
          </a:solidFill>
          <a:ln w="6350">
            <a:solidFill>
              <a:srgbClr val="1E1E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00600" y="1572768"/>
            <a:ext cx="0" cy="3255264"/>
          </a:xfrm>
          <a:prstGeom prst="line">
            <a:avLst/>
          </a:prstGeom>
          <a:noFill/>
          <a:ln w="10160">
            <a:solidFill>
              <a:srgbClr val="3333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5728" y="3200400"/>
            <a:ext cx="4809744" cy="0"/>
          </a:xfrm>
          <a:prstGeom prst="line">
            <a:avLst/>
          </a:prstGeom>
          <a:noFill/>
          <a:ln w="10160">
            <a:solidFill>
              <a:srgbClr val="3333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5087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影像專業度 高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60520" y="47000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影像專業度 低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331720" y="307238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體積大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01968" y="307238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輕巧便攜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081528" y="1847088"/>
            <a:ext cx="146304" cy="146304"/>
          </a:xfrm>
          <a:prstGeom prst="ellipse">
            <a:avLst/>
          </a:prstGeom>
          <a:solidFill>
            <a:srgbClr val="555550"/>
          </a:solidFill>
          <a:ln w="12700">
            <a:solidFill>
              <a:srgbClr val="555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0116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Sony A7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630168" y="1984248"/>
            <a:ext cx="146304" cy="146304"/>
          </a:xfrm>
          <a:prstGeom prst="ellipse">
            <a:avLst/>
          </a:prstGeom>
          <a:solidFill>
            <a:srgbClr val="555550"/>
          </a:solidFill>
          <a:ln w="12700">
            <a:solidFill>
              <a:srgbClr val="555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1488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 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898648" y="1737360"/>
            <a:ext cx="146304" cy="146304"/>
          </a:xfrm>
          <a:prstGeom prst="ellipse">
            <a:avLst/>
          </a:prstGeom>
          <a:solidFill>
            <a:srgbClr val="555550"/>
          </a:solidFill>
          <a:ln w="12700">
            <a:solidFill>
              <a:srgbClr val="555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9019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FF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990088" y="2761488"/>
            <a:ext cx="146304" cy="146304"/>
          </a:xfrm>
          <a:prstGeom prst="ellipse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926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 EOS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355848" y="2898648"/>
            <a:ext cx="146304" cy="146304"/>
          </a:xfrm>
          <a:prstGeom prst="ellipse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3063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Nikon 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721608" y="2807208"/>
            <a:ext cx="146304" cy="146304"/>
          </a:xfrm>
          <a:prstGeom prst="ellipse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971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Fujifilm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270248" y="3675888"/>
            <a:ext cx="146304" cy="146304"/>
          </a:xfrm>
          <a:prstGeom prst="ellipse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3840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iPhone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813048" y="3813048"/>
            <a:ext cx="146304" cy="146304"/>
          </a:xfrm>
          <a:prstGeom prst="ellipse">
            <a:avLst/>
          </a:prstGeom>
          <a:solidFill>
            <a:srgbClr val="444440"/>
          </a:solidFill>
          <a:ln w="12700">
            <a:solidFill>
              <a:srgbClr val="4444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9776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44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Samsung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550408" y="3630168"/>
            <a:ext cx="146304" cy="146304"/>
          </a:xfrm>
          <a:prstGeom prst="ellipse">
            <a:avLst/>
          </a:prstGeom>
          <a:solidFill>
            <a:srgbClr val="4A3A18"/>
          </a:solidFill>
          <a:ln w="12700">
            <a:solidFill>
              <a:srgbClr val="4A3A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794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CHANEL 包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007608" y="3785616"/>
            <a:ext cx="146304" cy="146304"/>
          </a:xfrm>
          <a:prstGeom prst="ellipse">
            <a:avLst/>
          </a:prstGeom>
          <a:solidFill>
            <a:srgbClr val="4A3A18"/>
          </a:solidFill>
          <a:ln w="12700">
            <a:solidFill>
              <a:srgbClr val="4A3A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95020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3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精品美妝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394960" y="1371600"/>
            <a:ext cx="1188720" cy="1188720"/>
          </a:xfrm>
          <a:prstGeom prst="ellipse">
            <a:avLst/>
          </a:prstGeom>
          <a:solidFill>
            <a:srgbClr val="C9A96E">
              <a:alpha val="12000"/>
            </a:srgbClr>
          </a:solidFill>
          <a:ln w="7620">
            <a:solidFill>
              <a:srgbClr val="C9A96E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05272" y="1581912"/>
            <a:ext cx="768096" cy="768096"/>
          </a:xfrm>
          <a:prstGeom prst="ellipse">
            <a:avLst/>
          </a:prstGeom>
          <a:solidFill>
            <a:srgbClr val="C9A96E">
              <a:alpha val="22000"/>
            </a:srgbClr>
          </a:solidFill>
          <a:ln w="10160">
            <a:solidFill>
              <a:srgbClr val="C9A96E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41848" y="1801368"/>
            <a:ext cx="6949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L×C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58968" y="2459736"/>
            <a:ext cx="1060704" cy="201168"/>
          </a:xfrm>
          <a:prstGeom prst="rect">
            <a:avLst/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2459736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藍海 / 市場空白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7498080" y="1463040"/>
            <a:ext cx="1463040" cy="1133856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463040"/>
            <a:ext cx="146304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554480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936992" y="1554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限量發行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516368" y="186537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首批 500 支預購，黑金限量編號。稀缺感製造熱度，二級市場溢價驗證收藏價值。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498080" y="2688336"/>
            <a:ext cx="1463040" cy="1133856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98080" y="2688336"/>
            <a:ext cx="146304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79776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936992" y="27797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快閃體驗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7516368" y="309067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巴黎 · 東京 · 上海快閃實體店。空間敘事強化品牌美學，製造排隊話題。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7498080" y="3913632"/>
            <a:ext cx="1463040" cy="1133856"/>
          </a:xfrm>
          <a:prstGeom prst="rect">
            <a:avLst/>
          </a:prstGeom>
          <a:solidFill>
            <a:srgbClr val="1A1A12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498080" y="3913632"/>
            <a:ext cx="146304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005072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7936992" y="4005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文化滲透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7516368" y="43159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頂級時尚 KOL 合作，時裝週首發曝光，讓產品出現在「被想望」的文化場景。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457200" y="4224528"/>
            <a:ext cx="1691640" cy="0"/>
          </a:xfrm>
          <a:prstGeom prst="rect">
            <a:avLst/>
          </a:prstGeom>
          <a:solidFill>
            <a:srgbClr val="1A1A12"/>
          </a:solidFill>
          <a:ln w="12700">
            <a:solidFill>
              <a:srgbClr val="1A1A12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57200" y="4224528"/>
            <a:ext cx="1691640" cy="0"/>
          </a:xfrm>
          <a:prstGeom prst="rect">
            <a:avLst/>
          </a:prstGeom>
          <a:solidFill>
            <a:srgbClr val="1A1A12"/>
          </a:solidFill>
          <a:ln w="12700">
            <a:solidFill>
              <a:srgbClr val="1A1A12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457200" y="4224528"/>
            <a:ext cx="1691640" cy="0"/>
          </a:xfrm>
          <a:prstGeom prst="rect">
            <a:avLst/>
          </a:prstGeom>
          <a:solidFill>
            <a:srgbClr val="1A1A12"/>
          </a:solidFill>
          <a:ln w="12700">
            <a:solidFill>
              <a:srgbClr val="1A1A12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57200" y="4224528"/>
            <a:ext cx="5303520" cy="749808"/>
          </a:xfrm>
          <a:prstGeom prst="rect">
            <a:avLst/>
          </a:prstGeom>
          <a:solidFill>
            <a:srgbClr val="0F0F0A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58368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&lt;48h</a:t>
            </a:r>
            <a:endParaRPr lang="en-US" sz="2400" dirty="0"/>
          </a:p>
        </p:txBody>
      </p:sp>
      <p:sp>
        <p:nvSpPr>
          <p:cNvPr id="57" name="Text 52"/>
          <p:cNvSpPr/>
          <p:nvPr/>
        </p:nvSpPr>
        <p:spPr>
          <a:xfrm>
            <a:off x="658368" y="4608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預購售罄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2441448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2400" dirty="0"/>
          </a:p>
        </p:txBody>
      </p:sp>
      <p:sp>
        <p:nvSpPr>
          <p:cNvPr id="59" name="Text 54"/>
          <p:cNvSpPr/>
          <p:nvPr/>
        </p:nvSpPr>
        <p:spPr>
          <a:xfrm>
            <a:off x="2441448" y="4608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二級市場溢價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4224528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400" dirty="0"/>
          </a:p>
        </p:txBody>
      </p:sp>
      <p:sp>
        <p:nvSpPr>
          <p:cNvPr id="61" name="Text 56"/>
          <p:cNvSpPr/>
          <p:nvPr/>
        </p:nvSpPr>
        <p:spPr>
          <a:xfrm>
            <a:off x="4224528" y="46085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社群曝光觸及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V · RISK MANAGEMENT · 風險與應對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大風險與應對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0"/>
          </a:xfrm>
          <a:prstGeom prst="line">
            <a:avLst/>
          </a:prstGeom>
          <a:noFill/>
          <a:ln w="762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4114800" cy="292608"/>
          </a:xfrm>
          <a:prstGeom prst="rect">
            <a:avLst/>
          </a:prstGeom>
          <a:solidFill>
            <a:srgbClr val="111108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444752"/>
            <a:ext cx="4114800" cy="292608"/>
          </a:xfrm>
          <a:prstGeom prst="rect">
            <a:avLst/>
          </a:prstGeom>
          <a:solidFill>
            <a:srgbClr val="111108"/>
          </a:solidFill>
          <a:ln w="6350">
            <a:solidFill>
              <a:srgbClr val="2A2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風險  RISK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應對方式  MITIGATION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114800" cy="566928"/>
          </a:xfrm>
          <a:prstGeom prst="rect">
            <a:avLst/>
          </a:prstGeom>
          <a:solidFill>
            <a:srgbClr val="0C0C08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65376"/>
            <a:ext cx="292608" cy="292608"/>
          </a:xfrm>
          <a:prstGeom prst="rect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65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8379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法規複雜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0756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相機＋美妝跨界，涉及電子與化妝品法規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34840" y="2066544"/>
            <a:ext cx="109728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4114800" cy="566928"/>
          </a:xfrm>
          <a:prstGeom prst="rect">
            <a:avLst/>
          </a:prstGeom>
          <a:solidFill>
            <a:srgbClr val="0C0C08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865376"/>
            <a:ext cx="292608" cy="292608"/>
          </a:xfrm>
          <a:prstGeom prst="ellipse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865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837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模組分離＋國際認證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0756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模組設計分離、分區管理，取得各國認證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386584"/>
            <a:ext cx="4114800" cy="566928"/>
          </a:xfrm>
          <a:prstGeom prst="rect">
            <a:avLst/>
          </a:prstGeom>
          <a:solidFill>
            <a:srgbClr val="0A0A06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468880"/>
            <a:ext cx="292608" cy="292608"/>
          </a:xfrm>
          <a:prstGeom prst="rect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24414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品牌衝突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6791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影像 × Chanel 時尚，調性可能不一致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2670048"/>
            <a:ext cx="109728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386584"/>
            <a:ext cx="4114800" cy="566928"/>
          </a:xfrm>
          <a:prstGeom prst="rect">
            <a:avLst/>
          </a:prstGeom>
          <a:solidFill>
            <a:srgbClr val="0A0A06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468880"/>
            <a:ext cx="292608" cy="292608"/>
          </a:xfrm>
          <a:prstGeom prst="ellipse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24414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科技精品定位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267919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打造「時尚科技配件」新品類，明確共同價值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990088"/>
            <a:ext cx="4114800" cy="566928"/>
          </a:xfrm>
          <a:prstGeom prst="rect">
            <a:avLst/>
          </a:prstGeom>
          <a:solidFill>
            <a:srgbClr val="0C0C08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72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30449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使用困難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32826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體積小巧，操作可能不直覺，影響滿意度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34840" y="3273552"/>
            <a:ext cx="109728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990088"/>
            <a:ext cx="4114800" cy="566928"/>
          </a:xfrm>
          <a:prstGeom prst="rect">
            <a:avLst/>
          </a:prstGeom>
          <a:solidFill>
            <a:srgbClr val="0C0C08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072384"/>
            <a:ext cx="292608" cy="292608"/>
          </a:xfrm>
          <a:prstGeom prst="ellipse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072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30449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一鍵操作＋App 整合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328269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一鍵拍攝，零學習曲線，App 即時分享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593592"/>
            <a:ext cx="4114800" cy="566928"/>
          </a:xfrm>
          <a:prstGeom prst="rect">
            <a:avLst/>
          </a:prstGeom>
          <a:solidFill>
            <a:srgbClr val="0A0A06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3675888"/>
            <a:ext cx="292608" cy="292608"/>
          </a:xfrm>
          <a:prstGeom prst="rect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675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8680" y="36484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市場不懂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680" y="38862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消費者對產品用途不熟悉，影響購買意願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434840" y="3877056"/>
            <a:ext cx="109728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593592"/>
            <a:ext cx="4114800" cy="566928"/>
          </a:xfrm>
          <a:prstGeom prst="rect">
            <a:avLst/>
          </a:prstGeom>
          <a:solidFill>
            <a:srgbClr val="0A0A06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3675888"/>
            <a:ext cx="292608" cy="292608"/>
          </a:xfrm>
          <a:prstGeom prst="ellipse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675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74920" y="36484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KOL＋時裝週曝光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74920" y="388620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邀請 KOL 體驗分享，時裝週快閃店教育市場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4114800" cy="566928"/>
          </a:xfrm>
          <a:prstGeom prst="rect">
            <a:avLst/>
          </a:prstGeom>
          <a:solidFill>
            <a:srgbClr val="0C0C08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4279392"/>
            <a:ext cx="292608" cy="292608"/>
          </a:xfrm>
          <a:prstGeom prst="rect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68680" y="42519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價值質疑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68680" y="44897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高單價可能被質疑，不如手機或其他產品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434840" y="4480560"/>
            <a:ext cx="109728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4197096"/>
            <a:ext cx="4114800" cy="566928"/>
          </a:xfrm>
          <a:prstGeom prst="rect">
            <a:avLst/>
          </a:prstGeom>
          <a:solidFill>
            <a:srgbClr val="0C0C08"/>
          </a:solidFill>
          <a:ln w="6350">
            <a:solidFill>
              <a:srgbClr val="1A1A1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4279392"/>
            <a:ext cx="292608" cy="292608"/>
          </a:xfrm>
          <a:prstGeom prst="ellipse">
            <a:avLst/>
          </a:prstGeom>
          <a:solidFill>
            <a:srgbClr val="1A1A12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74920" y="42519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限量＋收藏價值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074920" y="44897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限量編號創造稀缺性，強化收藏與轉售認知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1A1A10"/>
          </a:solidFill>
          <a:ln w="7620">
            <a:solidFill>
              <a:srgbClr val="C9A9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7731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原則：品牌整合 × 功能分離 × 專業分工 × 風險可控  ·  跨界創新 · 精準策略 · 安心落地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0A0A">
              <a:alpha val="65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0" y="274320"/>
            <a:ext cx="18288" cy="4572000"/>
          </a:xfrm>
          <a:prstGeom prst="rect">
            <a:avLst/>
          </a:prstGeom>
          <a:solidFill>
            <a:srgbClr val="C9A96E">
              <a:alpha val="6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1005840"/>
            <a:ext cx="2286000" cy="228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61872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我們不是在做一台相機，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我們在創造一個讓人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24942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「被看見」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871216"/>
            <a:ext cx="4389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8C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的時尚科技符號。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14400" y="3547872"/>
            <a:ext cx="2286000" cy="228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LEICA × CHANEL  ·  口紅相機  ·  全新品類提案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12"/>
          </a:solidFill>
          <a:ln w="12700">
            <a:solidFill>
              <a:srgbClr val="2A2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88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· FOR INTERNAL REVIEW ONLY ·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2026-05-03T04:02:45Z</dcterms:created>
  <dcterms:modified xsi:type="dcterms:W3CDTF">2026-05-03T04:02:45Z</dcterms:modified>
</cp:coreProperties>
</file>